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DA3C9A-86EE-4E6B-90B0-88DAFC3A29E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62C16-24A5-4F60-BDC5-9F1CE4A0C0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919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040B0-E4DB-4A4D-8E0A-1BE613B27BD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110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B44D6-598A-2038-5B84-226AEBBA3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F151D6-9BB4-FBE5-0060-349D11C0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03FFAE-F5F4-D702-5EF0-C62AF0D0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BAA2-143B-4C72-A33E-EBD020A309F6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C22D29-DFFA-5FAD-0B43-995B265B6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527218-355F-8891-4165-166607DF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9EE3-7200-4B47-8C35-8FFC1EB69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65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04DF67-0E3C-2679-54F6-D28A0E3B3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150526-90B1-0261-B25C-21CFC0A8D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BD72A-188C-B62B-53F5-902F6CF2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BAA2-143B-4C72-A33E-EBD020A309F6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8F6DAF-0DFA-4B90-8D50-BA19B19A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3D8BE2-11EA-B917-9DC1-C68843D5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9EE3-7200-4B47-8C35-8FFC1EB69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40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E6A0A0-2480-DC84-3FD6-C623E4662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B258E5-918F-AD65-A7BF-E1B790644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3E8EE-E13F-BCA3-CE16-05BA2E8C9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BAA2-143B-4C72-A33E-EBD020A309F6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C3F53A-6957-77DB-81AE-18485B04D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F5E396-9C4B-E53E-59C7-E892E987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9EE3-7200-4B47-8C35-8FFC1EB69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670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49B81-08FA-BE34-427D-2ACB3172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10D2C7-BE30-68F7-9A65-0AA70FFCA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8DB512-722A-E8F8-EE61-24751E122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513422-2F3F-4C33-A1F4-2139CE2F1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BAA2-143B-4C72-A33E-EBD020A309F6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4B3223-7683-34B8-BC4A-7AC6BA306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11C1D2-7A54-A3FF-346D-FA6212E2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9EE3-7200-4B47-8C35-8FFC1EB69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484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95365-D42C-E902-B084-6E34ACE7B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8DD09D-314E-C2F3-4B51-6A4C6000E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816EDF-0890-4661-AD02-303210C09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BA08D6-0B3E-7B55-10A0-AE586EA35A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AD6104-4B28-053E-7A06-F74F11A4D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F19F80-79DE-BEC3-A069-D2ABAFAB8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BAA2-143B-4C72-A33E-EBD020A309F6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F799CA-DF9C-B654-2903-D2247706D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531FF01-DC4C-A289-9C8C-EDBFE93A4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9EE3-7200-4B47-8C35-8FFC1EB69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43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CAB11-0B62-1111-7D7A-AE417C4B6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91998C-EC38-BADD-6F56-4D6338177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BAA2-143B-4C72-A33E-EBD020A309F6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83A229-A557-6F59-AC30-4CCD3CCF3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427A94-3A8E-775B-F6E1-9041CF3D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9EE3-7200-4B47-8C35-8FFC1EB69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55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160CE7-4314-9B64-0EB4-6FC6F3A3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BAA2-143B-4C72-A33E-EBD020A309F6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96F116-8BE2-F522-252D-C5B23D8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613749-71F1-B387-1C18-348444BE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9EE3-7200-4B47-8C35-8FFC1EB69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6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E617E-3F83-79BA-D261-B5D7E2144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4758EB-3523-37C1-0AE3-995D9CC1B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CB218A-7B87-7B5A-77B5-EBDA850D3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D5385F-312B-6228-FF7F-D25DAA3D3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BAA2-143B-4C72-A33E-EBD020A309F6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DD6BA4-00E4-335E-3225-E9EBC4596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7F45A6-E868-041A-B0B9-EC16C0BFD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9EE3-7200-4B47-8C35-8FFC1EB69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83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1B43D2-9F65-428A-0E6F-FDC13658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9B20E5-8E7C-A350-26FE-7D8D6269F9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7660A7-07DD-B6E8-36AC-8DA52F5D9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7B87E7-3419-16D4-674E-E2B529B4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BAA2-143B-4C72-A33E-EBD020A309F6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5F61BE-44A4-B03D-46BC-1337224B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42AEC2-F48D-7CE0-3B60-95AD81FD2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9EE3-7200-4B47-8C35-8FFC1EB69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32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128BE-CD7F-5E30-B5D4-6F14E44E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AA37E7-321E-AB95-5152-78FA63F39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B78EB-B3FA-16F8-5379-DD884325B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BAA2-143B-4C72-A33E-EBD020A309F6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1694B5-70FF-52C5-6100-00C02AE1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26C270-2A2C-2136-3E9D-48F54AC0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9EE3-7200-4B47-8C35-8FFC1EB69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178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E700D1-AE7B-BE0F-1ED3-DF28768EF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03F454-8281-0CC2-75F6-AD600D84F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355454-4681-F781-8816-4EA964D24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BAA2-143B-4C72-A33E-EBD020A309F6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46A00-47FD-A307-281F-4254E3F5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EC246D-0280-7B25-0388-283B10F3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9EE3-7200-4B47-8C35-8FFC1EB69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98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540BFF-E7E1-7E8A-F35B-28083BDD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BEA433-F582-279D-68BF-7CDDBC0BD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20BC6E-B336-EF73-00DC-015FF8F07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EBAA2-143B-4C72-A33E-EBD020A309F6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09342A-FB77-5D71-B44B-747C602E5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8D8C00-EADF-FBED-A3F1-B5D030C73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49EE3-7200-4B47-8C35-8FFC1EB69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928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B418AD9-8E0B-C429-4E22-72E43DCE4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35" y="870106"/>
            <a:ext cx="5568818" cy="5454194"/>
          </a:xfrm>
          <a:prstGeom prst="rect">
            <a:avLst/>
          </a:prstGeom>
        </p:spPr>
      </p:pic>
      <p:sp>
        <p:nvSpPr>
          <p:cNvPr id="5" name="Freeform 3">
            <a:extLst>
              <a:ext uri="{FF2B5EF4-FFF2-40B4-BE49-F238E27FC236}">
                <a16:creationId xmlns:a16="http://schemas.microsoft.com/office/drawing/2014/main" id="{43576597-8760-F9F9-1F65-1C92560CD17A}"/>
              </a:ext>
            </a:extLst>
          </p:cNvPr>
          <p:cNvSpPr/>
          <p:nvPr/>
        </p:nvSpPr>
        <p:spPr>
          <a:xfrm>
            <a:off x="0" y="1"/>
            <a:ext cx="12191997" cy="584199"/>
          </a:xfrm>
          <a:custGeom>
            <a:avLst/>
            <a:gdLst/>
            <a:ahLst/>
            <a:cxnLst/>
            <a:rect l="l" t="t" r="r" b="b"/>
            <a:pathLst>
              <a:path w="4816592" h="709923">
                <a:moveTo>
                  <a:pt x="0" y="0"/>
                </a:moveTo>
                <a:lnTo>
                  <a:pt x="4816592" y="0"/>
                </a:lnTo>
                <a:lnTo>
                  <a:pt x="4816592" y="709923"/>
                </a:lnTo>
                <a:lnTo>
                  <a:pt x="0" y="709923"/>
                </a:lnTo>
                <a:close/>
              </a:path>
            </a:pathLst>
          </a:custGeom>
          <a:solidFill>
            <a:srgbClr val="30437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AC1A6EB-810B-6365-4B8C-B357534C38B8}"/>
              </a:ext>
            </a:extLst>
          </p:cNvPr>
          <p:cNvSpPr txBox="1">
            <a:spLocks/>
          </p:cNvSpPr>
          <p:nvPr/>
        </p:nvSpPr>
        <p:spPr>
          <a:xfrm>
            <a:off x="6194504" y="1551579"/>
            <a:ext cx="2696735" cy="47727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Nucleic acid modification</a:t>
            </a:r>
          </a:p>
          <a:p>
            <a:endParaRPr kumimoji="1"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of genetic information</a:t>
            </a:r>
          </a:p>
          <a:p>
            <a:endParaRPr kumimoji="1"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silencing or repression</a:t>
            </a:r>
          </a:p>
          <a:p>
            <a:endParaRPr kumimoji="1"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Lnc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4CCE97-2021-8E71-CA3E-470D4BE4D79A}"/>
              </a:ext>
            </a:extLst>
          </p:cNvPr>
          <p:cNvSpPr txBox="1"/>
          <p:nvPr/>
        </p:nvSpPr>
        <p:spPr>
          <a:xfrm>
            <a:off x="9655396" y="1188686"/>
            <a:ext cx="2397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0" i="0" u="none" strike="noStrike" dirty="0">
                <a:solidFill>
                  <a:srgbClr val="222222"/>
                </a:solidFill>
                <a:effectLst/>
                <a:latin typeface="Harding"/>
              </a:rPr>
              <a:t>methylation (M)</a:t>
            </a:r>
          </a:p>
          <a:p>
            <a:r>
              <a:rPr lang="en" altLang="zh-CN" b="0" i="0" u="none" strike="noStrike" dirty="0" err="1">
                <a:solidFill>
                  <a:srgbClr val="222222"/>
                </a:solidFill>
                <a:effectLst/>
                <a:latin typeface="Harding"/>
              </a:rPr>
              <a:t>pseudouridylation</a:t>
            </a:r>
            <a:r>
              <a:rPr lang="en" altLang="zh-CN" b="0" i="0" u="none" strike="noStrike" dirty="0">
                <a:solidFill>
                  <a:srgbClr val="222222"/>
                </a:solidFill>
                <a:effectLst/>
                <a:latin typeface="Harding"/>
              </a:rPr>
              <a:t> (</a:t>
            </a:r>
            <a:r>
              <a:rPr lang="el-GR" altLang="zh-CN" b="0" i="0" u="none" strike="noStrike" dirty="0">
                <a:solidFill>
                  <a:srgbClr val="222222"/>
                </a:solidFill>
                <a:effectLst/>
                <a:latin typeface="Harding"/>
              </a:rPr>
              <a:t>ψ) </a:t>
            </a:r>
            <a:endParaRPr lang="en" altLang="zh-CN" dirty="0">
              <a:solidFill>
                <a:srgbClr val="222222"/>
              </a:solidFill>
              <a:latin typeface="Harding"/>
            </a:endParaRPr>
          </a:p>
          <a:p>
            <a:r>
              <a:rPr lang="en" altLang="zh-CN" b="0" i="0" u="none" strike="noStrike" dirty="0">
                <a:solidFill>
                  <a:srgbClr val="222222"/>
                </a:solidFill>
                <a:effectLst/>
                <a:latin typeface="Harding"/>
              </a:rPr>
              <a:t>deamination (I)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BB31F5-F03E-420A-DBA0-E62FEE0849B6}"/>
              </a:ext>
            </a:extLst>
          </p:cNvPr>
          <p:cNvSpPr txBox="1"/>
          <p:nvPr/>
        </p:nvSpPr>
        <p:spPr>
          <a:xfrm>
            <a:off x="9655396" y="2491726"/>
            <a:ext cx="8034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222222"/>
                </a:solidFill>
                <a:latin typeface="Harding"/>
              </a:rPr>
              <a:t>tRNA</a:t>
            </a:r>
          </a:p>
          <a:p>
            <a:r>
              <a:rPr lang="en-US" altLang="zh-CN" dirty="0">
                <a:solidFill>
                  <a:srgbClr val="222222"/>
                </a:solidFill>
                <a:latin typeface="Harding"/>
              </a:rPr>
              <a:t>mRNA</a:t>
            </a:r>
          </a:p>
          <a:p>
            <a:r>
              <a:rPr lang="en-US" altLang="zh-CN" dirty="0">
                <a:solidFill>
                  <a:srgbClr val="222222"/>
                </a:solidFill>
                <a:latin typeface="Harding"/>
              </a:rPr>
              <a:t>rRNA</a:t>
            </a:r>
          </a:p>
          <a:p>
            <a:r>
              <a:rPr lang="en-US" altLang="zh-CN" dirty="0">
                <a:solidFill>
                  <a:srgbClr val="222222"/>
                </a:solidFill>
                <a:latin typeface="Harding"/>
              </a:rPr>
              <a:t>snRNA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801F09-59E7-01A0-B3C8-8B7316EA925C}"/>
              </a:ext>
            </a:extLst>
          </p:cNvPr>
          <p:cNvSpPr txBox="1"/>
          <p:nvPr/>
        </p:nvSpPr>
        <p:spPr>
          <a:xfrm>
            <a:off x="9699909" y="4128744"/>
            <a:ext cx="829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222222"/>
                </a:solidFill>
                <a:latin typeface="Harding"/>
              </a:rPr>
              <a:t>piRNA</a:t>
            </a:r>
            <a:endParaRPr lang="en-US" altLang="zh-CN" dirty="0">
              <a:solidFill>
                <a:srgbClr val="222222"/>
              </a:solidFill>
              <a:latin typeface="Harding"/>
            </a:endParaRPr>
          </a:p>
          <a:p>
            <a:r>
              <a:rPr lang="en-US" altLang="zh-CN" dirty="0">
                <a:solidFill>
                  <a:srgbClr val="222222"/>
                </a:solidFill>
                <a:latin typeface="Harding"/>
              </a:rPr>
              <a:t>miRNA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A0BCCF-3119-DF58-DC25-64C4072E9BD7}"/>
              </a:ext>
            </a:extLst>
          </p:cNvPr>
          <p:cNvSpPr txBox="1"/>
          <p:nvPr/>
        </p:nvSpPr>
        <p:spPr>
          <a:xfrm>
            <a:off x="9678428" y="5352585"/>
            <a:ext cx="1655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222222"/>
                </a:solidFill>
                <a:latin typeface="Harding"/>
              </a:rPr>
              <a:t>Guide</a:t>
            </a:r>
          </a:p>
          <a:p>
            <a:r>
              <a:rPr lang="en" altLang="zh-CN" dirty="0">
                <a:solidFill>
                  <a:srgbClr val="222222"/>
                </a:solidFill>
                <a:latin typeface="Harding"/>
              </a:rPr>
              <a:t>gene regulation</a:t>
            </a:r>
            <a:endParaRPr lang="zh-CN" altLang="en-US" dirty="0">
              <a:solidFill>
                <a:srgbClr val="222222"/>
              </a:solidFill>
              <a:latin typeface="Harding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A0EB64-8155-CA49-3DE6-76203E255790}"/>
              </a:ext>
            </a:extLst>
          </p:cNvPr>
          <p:cNvSpPr txBox="1"/>
          <p:nvPr/>
        </p:nvSpPr>
        <p:spPr>
          <a:xfrm>
            <a:off x="112258" y="61267"/>
            <a:ext cx="9944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Background: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RNA-binding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proteins </a:t>
            </a:r>
            <a:r>
              <a:rPr lang="en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have diverse functions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in organisms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BB9811-AE63-2E80-2DA4-18D1DA6F6801}"/>
              </a:ext>
            </a:extLst>
          </p:cNvPr>
          <p:cNvSpPr txBox="1"/>
          <p:nvPr/>
        </p:nvSpPr>
        <p:spPr>
          <a:xfrm>
            <a:off x="8097398" y="6303433"/>
            <a:ext cx="4641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Gerstberger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 Rev Genet 15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974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FF643-04B6-137D-E3D5-77BD4802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56222-EEEF-8E22-9377-47D7B6D72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004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C68787-7403-BFBE-2265-6DB7389E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C32385-EF45-107E-BD90-BD4146A06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040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C495B-8D75-979B-B8EC-BB101D6D3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FBDBF5-B229-0CC5-0CA2-4CFACD16C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61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C7A0B-8A70-9A7A-A1A6-6E7F9D510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6EE881-66E7-9EC6-F8C7-64EF8B5E4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624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 3">
            <a:extLst>
              <a:ext uri="{FF2B5EF4-FFF2-40B4-BE49-F238E27FC236}">
                <a16:creationId xmlns:a16="http://schemas.microsoft.com/office/drawing/2014/main" id="{AD4CBE47-E0F3-E163-8288-786FD81BE499}"/>
              </a:ext>
            </a:extLst>
          </p:cNvPr>
          <p:cNvSpPr/>
          <p:nvPr/>
        </p:nvSpPr>
        <p:spPr>
          <a:xfrm>
            <a:off x="0" y="1"/>
            <a:ext cx="12191997" cy="584199"/>
          </a:xfrm>
          <a:custGeom>
            <a:avLst/>
            <a:gdLst/>
            <a:ahLst/>
            <a:cxnLst/>
            <a:rect l="l" t="t" r="r" b="b"/>
            <a:pathLst>
              <a:path w="4816592" h="709923">
                <a:moveTo>
                  <a:pt x="0" y="0"/>
                </a:moveTo>
                <a:lnTo>
                  <a:pt x="4816592" y="0"/>
                </a:lnTo>
                <a:lnTo>
                  <a:pt x="4816592" y="709923"/>
                </a:lnTo>
                <a:lnTo>
                  <a:pt x="0" y="709923"/>
                </a:lnTo>
                <a:close/>
              </a:path>
            </a:pathLst>
          </a:custGeom>
          <a:solidFill>
            <a:srgbClr val="304370"/>
          </a:solidFill>
        </p:spPr>
        <p:txBody>
          <a:bodyPr/>
          <a:lstStyle/>
          <a:p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CB2029D-3A56-C35B-6B5A-BFB0EDA370F6}"/>
              </a:ext>
            </a:extLst>
          </p:cNvPr>
          <p:cNvGrpSpPr/>
          <p:nvPr/>
        </p:nvGrpSpPr>
        <p:grpSpPr>
          <a:xfrm>
            <a:off x="229976" y="1260574"/>
            <a:ext cx="5694555" cy="5047469"/>
            <a:chOff x="5865271" y="335745"/>
            <a:chExt cx="6565933" cy="5713699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1BD5592-D9EB-7DEE-288C-71538314E398}"/>
                </a:ext>
              </a:extLst>
            </p:cNvPr>
            <p:cNvSpPr txBox="1"/>
            <p:nvPr/>
          </p:nvSpPr>
          <p:spPr>
            <a:xfrm>
              <a:off x="8707474" y="2328300"/>
              <a:ext cx="2430966" cy="1323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Filter</a:t>
              </a:r>
            </a:p>
            <a:p>
              <a:r>
                <a:rPr lang="en-US" altLang="zh-CN" sz="1400" b="0" dirty="0">
                  <a:solidFill>
                    <a:srgbClr val="231F2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60 amino acids (aa) </a:t>
              </a:r>
            </a:p>
            <a:p>
              <a:r>
                <a:rPr lang="en-US" altLang="zh-CN" sz="1400" b="0" dirty="0">
                  <a:solidFill>
                    <a:srgbClr val="231F2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&gt; 4000 aa</a:t>
              </a:r>
            </a:p>
            <a:p>
              <a:r>
                <a:rPr lang="en-US" altLang="zh-CN" sz="1400" dirty="0">
                  <a:solidFill>
                    <a:srgbClr val="231F2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RNA info(GO)</a:t>
              </a:r>
              <a:endParaRPr lang="en-US" altLang="zh-CN" sz="1400" b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1400" dirty="0">
                  <a:solidFill>
                    <a:srgbClr val="231F2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contain ‘ X | x ’ and ‘ J | j ’</a:t>
              </a:r>
              <a:endParaRPr lang="zh-CN" altLang="en-US" sz="1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9A355CA3-8DE9-DC8B-2FC3-40D436B1B47F}"/>
                </a:ext>
              </a:extLst>
            </p:cNvPr>
            <p:cNvGrpSpPr/>
            <p:nvPr/>
          </p:nvGrpSpPr>
          <p:grpSpPr>
            <a:xfrm>
              <a:off x="5865271" y="335745"/>
              <a:ext cx="6565933" cy="5713699"/>
              <a:chOff x="5746324" y="588506"/>
              <a:chExt cx="6565933" cy="5713699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0717D3B6-BC57-A297-8A45-F53370E138DF}"/>
                  </a:ext>
                </a:extLst>
              </p:cNvPr>
              <p:cNvGrpSpPr/>
              <p:nvPr/>
            </p:nvGrpSpPr>
            <p:grpSpPr>
              <a:xfrm>
                <a:off x="5746324" y="588506"/>
                <a:ext cx="5125228" cy="4858311"/>
                <a:chOff x="5619944" y="551335"/>
                <a:chExt cx="5125228" cy="4858311"/>
              </a:xfrm>
            </p:grpSpPr>
            <p:cxnSp>
              <p:nvCxnSpPr>
                <p:cNvPr id="39" name="直接箭头连接符 38">
                  <a:extLst>
                    <a:ext uri="{FF2B5EF4-FFF2-40B4-BE49-F238E27FC236}">
                      <a16:creationId xmlns:a16="http://schemas.microsoft.com/office/drawing/2014/main" id="{119657F5-96A6-C0E9-27D7-2D0214C5B0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9828" y="2158468"/>
                  <a:ext cx="0" cy="1029646"/>
                </a:xfrm>
                <a:prstGeom prst="straightConnector1">
                  <a:avLst/>
                </a:prstGeom>
                <a:ln w="254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40" name="组合 39">
                  <a:extLst>
                    <a:ext uri="{FF2B5EF4-FFF2-40B4-BE49-F238E27FC236}">
                      <a16:creationId xmlns:a16="http://schemas.microsoft.com/office/drawing/2014/main" id="{52A10F4E-3476-CA0B-6A1D-D8620D182E59}"/>
                    </a:ext>
                  </a:extLst>
                </p:cNvPr>
                <p:cNvGrpSpPr/>
                <p:nvPr/>
              </p:nvGrpSpPr>
              <p:grpSpPr>
                <a:xfrm>
                  <a:off x="5619944" y="551335"/>
                  <a:ext cx="5125228" cy="4858311"/>
                  <a:chOff x="5649680" y="536466"/>
                  <a:chExt cx="5125228" cy="4858311"/>
                </a:xfrm>
              </p:grpSpPr>
              <p:sp>
                <p:nvSpPr>
                  <p:cNvPr id="41" name="矩形: 圆角 40">
                    <a:extLst>
                      <a:ext uri="{FF2B5EF4-FFF2-40B4-BE49-F238E27FC236}">
                        <a16:creationId xmlns:a16="http://schemas.microsoft.com/office/drawing/2014/main" id="{CFCE74C7-22FD-82C3-476F-EFD25E6D69F9}"/>
                      </a:ext>
                    </a:extLst>
                  </p:cNvPr>
                  <p:cNvSpPr/>
                  <p:nvPr/>
                </p:nvSpPr>
                <p:spPr>
                  <a:xfrm>
                    <a:off x="7120813" y="3173245"/>
                    <a:ext cx="1317501" cy="631900"/>
                  </a:xfrm>
                  <a:prstGeom prst="round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noFill/>
                    <a:prstDash val="lg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72437protein</a:t>
                    </a:r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2" name="组合 41">
                    <a:extLst>
                      <a:ext uri="{FF2B5EF4-FFF2-40B4-BE49-F238E27FC236}">
                        <a16:creationId xmlns:a16="http://schemas.microsoft.com/office/drawing/2014/main" id="{C3024F40-1966-8D21-7235-918A3711E2FD}"/>
                      </a:ext>
                    </a:extLst>
                  </p:cNvPr>
                  <p:cNvGrpSpPr/>
                  <p:nvPr/>
                </p:nvGrpSpPr>
                <p:grpSpPr>
                  <a:xfrm>
                    <a:off x="5649680" y="536466"/>
                    <a:ext cx="5125228" cy="4858311"/>
                    <a:chOff x="5675968" y="1423655"/>
                    <a:chExt cx="5125228" cy="4858311"/>
                  </a:xfrm>
                </p:grpSpPr>
                <p:cxnSp>
                  <p:nvCxnSpPr>
                    <p:cNvPr id="43" name="直接连接符 42">
                      <a:extLst>
                        <a:ext uri="{FF2B5EF4-FFF2-40B4-BE49-F238E27FC236}">
                          <a16:creationId xmlns:a16="http://schemas.microsoft.com/office/drawing/2014/main" id="{7482E793-1929-2886-782C-AFB30EB9B70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05853" y="1895708"/>
                      <a:ext cx="2995343" cy="0"/>
                    </a:xfrm>
                    <a:prstGeom prst="line">
                      <a:avLst/>
                    </a:prstGeom>
                    <a:ln w="254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4" name="矩形: 圆角 43">
                      <a:extLst>
                        <a:ext uri="{FF2B5EF4-FFF2-40B4-BE49-F238E27FC236}">
                          <a16:creationId xmlns:a16="http://schemas.microsoft.com/office/drawing/2014/main" id="{3EADB58B-3B04-D693-B8B2-195F6722DD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7684" y="2375195"/>
                      <a:ext cx="1317501" cy="631900"/>
                    </a:xfrm>
                    <a:prstGeom prst="roundRect">
                      <a:avLst/>
                    </a:prstGeom>
                    <a:solidFill>
                      <a:schemeClr val="accent5">
                        <a:lumMod val="20000"/>
                        <a:lumOff val="80000"/>
                      </a:schemeClr>
                    </a:solidFill>
                    <a:ln>
                      <a:noFill/>
                      <a:prstDash val="lg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14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PDB+Uniprot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5" name="文本框 44">
                      <a:extLst>
                        <a:ext uri="{FF2B5EF4-FFF2-40B4-BE49-F238E27FC236}">
                          <a16:creationId xmlns:a16="http://schemas.microsoft.com/office/drawing/2014/main" id="{6777E1A7-4A72-4EE9-5747-830AAA9DDF5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55318" y="1423655"/>
                      <a:ext cx="166524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RNA-binding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46" name="直接箭头连接符 45">
                      <a:extLst>
                        <a:ext uri="{FF2B5EF4-FFF2-40B4-BE49-F238E27FC236}">
                          <a16:creationId xmlns:a16="http://schemas.microsoft.com/office/drawing/2014/main" id="{0B5B67A0-1FA5-07D9-7967-293D2DB6B8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05852" y="1895707"/>
                      <a:ext cx="0" cy="459713"/>
                    </a:xfrm>
                    <a:prstGeom prst="straightConnector1">
                      <a:avLst/>
                    </a:prstGeom>
                    <a:ln w="25400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C851E1D6-0E0E-3F23-93A5-F163B8709D3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801196" y="1895708"/>
                      <a:ext cx="0" cy="459713"/>
                    </a:xfrm>
                    <a:prstGeom prst="straightConnector1">
                      <a:avLst/>
                    </a:prstGeom>
                    <a:ln w="25400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8" name="文本框 47">
                      <a:extLst>
                        <a:ext uri="{FF2B5EF4-FFF2-40B4-BE49-F238E27FC236}">
                          <a16:creationId xmlns:a16="http://schemas.microsoft.com/office/drawing/2014/main" id="{73197A21-DFF1-3C4D-D33D-16614520FF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75968" y="5012845"/>
                      <a:ext cx="2207940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Mmseq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Similarity 50%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9" name="文本框 48">
                      <a:extLst>
                        <a:ext uri="{FF2B5EF4-FFF2-40B4-BE49-F238E27FC236}">
                          <a16:creationId xmlns:a16="http://schemas.microsoft.com/office/drawing/2014/main" id="{92026653-CAD2-DC3C-C8AF-A631F9CB10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75968" y="2939157"/>
                      <a:ext cx="2430966" cy="95410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</a:t>
                      </a:r>
                    </a:p>
                    <a:p>
                      <a:r>
                        <a:rPr lang="en-US" altLang="zh-CN" sz="1400" b="0" dirty="0">
                          <a:solidFill>
                            <a:srgbClr val="231F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&lt; 60 amino acids (aa) </a:t>
                      </a:r>
                    </a:p>
                    <a:p>
                      <a:r>
                        <a:rPr lang="en-US" altLang="zh-CN" sz="1400" b="0" dirty="0">
                          <a:solidFill>
                            <a:srgbClr val="231F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&gt; 4000 aa</a:t>
                      </a:r>
                    </a:p>
                    <a:p>
                      <a:r>
                        <a:rPr lang="en-US" altLang="zh-CN" sz="1400" dirty="0">
                          <a:solidFill>
                            <a:srgbClr val="231F2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 ‘ X | x ’ and ‘ J | j ’</a:t>
                      </a:r>
                      <a:endParaRPr lang="zh-CN" altLang="en-US" sz="1400" dirty="0">
                        <a:solidFill>
                          <a:srgbClr val="231F2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50" name="直接箭头连接符 49">
                      <a:extLst>
                        <a:ext uri="{FF2B5EF4-FFF2-40B4-BE49-F238E27FC236}">
                          <a16:creationId xmlns:a16="http://schemas.microsoft.com/office/drawing/2014/main" id="{E4469CEB-4507-D305-208B-64FC583F445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05852" y="4688460"/>
                      <a:ext cx="0" cy="887150"/>
                    </a:xfrm>
                    <a:prstGeom prst="straightConnector1">
                      <a:avLst/>
                    </a:prstGeom>
                    <a:ln w="25400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1" name="矩形: 圆角 50">
                      <a:extLst>
                        <a:ext uri="{FF2B5EF4-FFF2-40B4-BE49-F238E27FC236}">
                          <a16:creationId xmlns:a16="http://schemas.microsoft.com/office/drawing/2014/main" id="{D9AC3462-D804-FB49-9B26-25A68D0998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0245" y="5650066"/>
                      <a:ext cx="1317501" cy="631900"/>
                    </a:xfrm>
                    <a:prstGeom prst="roundRect">
                      <a:avLst/>
                    </a:prstGeom>
                    <a:solidFill>
                      <a:schemeClr val="accent5">
                        <a:lumMod val="20000"/>
                        <a:lumOff val="80000"/>
                      </a:schemeClr>
                    </a:solidFill>
                    <a:ln>
                      <a:noFill/>
                      <a:prstDash val="lg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9743protein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6C8B0AC1-C535-834A-13A8-7977E6491B41}"/>
                  </a:ext>
                </a:extLst>
              </p:cNvPr>
              <p:cNvGrpSpPr/>
              <p:nvPr/>
            </p:nvGrpSpPr>
            <p:grpSpPr>
              <a:xfrm>
                <a:off x="7954263" y="712159"/>
                <a:ext cx="4357994" cy="5590046"/>
                <a:chOff x="7961701" y="670030"/>
                <a:chExt cx="4357994" cy="5590046"/>
              </a:xfrm>
            </p:grpSpPr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AEBDA1B3-CFDC-6D4A-20D1-C83FB4393595}"/>
                    </a:ext>
                  </a:extLst>
                </p:cNvPr>
                <p:cNvSpPr txBox="1"/>
                <p:nvPr/>
              </p:nvSpPr>
              <p:spPr>
                <a:xfrm>
                  <a:off x="9998654" y="670030"/>
                  <a:ext cx="2321041" cy="4180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Not RNA-binding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5460FCFF-8E16-84F6-7CD0-EFBDE795598C}"/>
                    </a:ext>
                  </a:extLst>
                </p:cNvPr>
                <p:cNvSpPr/>
                <p:nvPr/>
              </p:nvSpPr>
              <p:spPr>
                <a:xfrm>
                  <a:off x="9967257" y="1520270"/>
                  <a:ext cx="1317501" cy="631900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b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Uniprot</a:t>
                  </a:r>
                  <a:endParaRPr lang="zh-CN" alt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03F8C374-4D82-F8A6-8B00-F6CFA316D5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78990" y="2194297"/>
                  <a:ext cx="0" cy="2426222"/>
                </a:xfrm>
                <a:prstGeom prst="straightConnector1">
                  <a:avLst/>
                </a:prstGeom>
                <a:ln w="254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6" name="右大括号 35">
                  <a:extLst>
                    <a:ext uri="{FF2B5EF4-FFF2-40B4-BE49-F238E27FC236}">
                      <a16:creationId xmlns:a16="http://schemas.microsoft.com/office/drawing/2014/main" id="{161E7B54-9A4D-BBA6-6B0B-2970DE4ED2AD}"/>
                    </a:ext>
                  </a:extLst>
                </p:cNvPr>
                <p:cNvSpPr/>
                <p:nvPr/>
              </p:nvSpPr>
              <p:spPr>
                <a:xfrm rot="5400000">
                  <a:off x="9154941" y="4261390"/>
                  <a:ext cx="405036" cy="2791515"/>
                </a:xfrm>
                <a:prstGeom prst="rightBrac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24C34BF4-BBB9-6748-AE83-9C4E59EECF1B}"/>
                    </a:ext>
                  </a:extLst>
                </p:cNvPr>
                <p:cNvSpPr/>
                <p:nvPr/>
              </p:nvSpPr>
              <p:spPr>
                <a:xfrm>
                  <a:off x="9811449" y="4703762"/>
                  <a:ext cx="1473310" cy="668371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9743protein</a:t>
                  </a:r>
                  <a:endParaRPr lang="zh-CN" alt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E1B1D4E3-1EDA-23A3-C92A-5A4910B0174C}"/>
                    </a:ext>
                  </a:extLst>
                </p:cNvPr>
                <p:cNvSpPr txBox="1"/>
                <p:nvPr/>
              </p:nvSpPr>
              <p:spPr>
                <a:xfrm>
                  <a:off x="8285085" y="5880446"/>
                  <a:ext cx="2741846" cy="3796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Mmseq</a:t>
                  </a:r>
                  <a:r>
                    <a:rPr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Similarity 25%</a:t>
                  </a:r>
                  <a:endPara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52" name="箭头: 右 51">
            <a:extLst>
              <a:ext uri="{FF2B5EF4-FFF2-40B4-BE49-F238E27FC236}">
                <a16:creationId xmlns:a16="http://schemas.microsoft.com/office/drawing/2014/main" id="{4FE68D32-BB8C-3264-7F13-D82E56301731}"/>
              </a:ext>
            </a:extLst>
          </p:cNvPr>
          <p:cNvSpPr/>
          <p:nvPr/>
        </p:nvSpPr>
        <p:spPr>
          <a:xfrm>
            <a:off x="5686939" y="3428413"/>
            <a:ext cx="1096434" cy="295506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7C23942-59E4-2648-C8B4-F2CB4E23A332}"/>
              </a:ext>
            </a:extLst>
          </p:cNvPr>
          <p:cNvSpPr txBox="1"/>
          <p:nvPr/>
        </p:nvSpPr>
        <p:spPr>
          <a:xfrm>
            <a:off x="115156" y="74711"/>
            <a:ext cx="9944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Result:Train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 dataset and test dataset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C613BA2-8A47-A4E4-B843-29659BD91F50}"/>
              </a:ext>
            </a:extLst>
          </p:cNvPr>
          <p:cNvSpPr txBox="1"/>
          <p:nvPr/>
        </p:nvSpPr>
        <p:spPr>
          <a:xfrm>
            <a:off x="2562301" y="630366"/>
            <a:ext cx="4482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27714BA-A38C-1E5E-1827-727D5042645A}"/>
              </a:ext>
            </a:extLst>
          </p:cNvPr>
          <p:cNvSpPr/>
          <p:nvPr/>
        </p:nvSpPr>
        <p:spPr>
          <a:xfrm>
            <a:off x="7159637" y="2118186"/>
            <a:ext cx="1277784" cy="5904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9743RBP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FB0A262-7091-BB63-C9AA-21E0BAF68C53}"/>
              </a:ext>
            </a:extLst>
          </p:cNvPr>
          <p:cNvSpPr/>
          <p:nvPr/>
        </p:nvSpPr>
        <p:spPr>
          <a:xfrm>
            <a:off x="7167356" y="2791545"/>
            <a:ext cx="1277784" cy="5904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9743NRBP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035003-891A-2DFC-E409-F4D0D6D2930B}"/>
              </a:ext>
            </a:extLst>
          </p:cNvPr>
          <p:cNvSpPr txBox="1"/>
          <p:nvPr/>
        </p:nvSpPr>
        <p:spPr>
          <a:xfrm>
            <a:off x="7096073" y="1260574"/>
            <a:ext cx="4482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dataset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5A69D2C-4E1D-7CA8-170F-D278E176AC55}"/>
              </a:ext>
            </a:extLst>
          </p:cNvPr>
          <p:cNvSpPr/>
          <p:nvPr/>
        </p:nvSpPr>
        <p:spPr>
          <a:xfrm>
            <a:off x="9099444" y="2673357"/>
            <a:ext cx="1050403" cy="295506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59849C-3239-43D2-3796-CCEF6141D8BF}"/>
              </a:ext>
            </a:extLst>
          </p:cNvPr>
          <p:cNvSpPr txBox="1"/>
          <p:nvPr/>
        </p:nvSpPr>
        <p:spPr>
          <a:xfrm>
            <a:off x="8560460" y="2267477"/>
            <a:ext cx="208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select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0D37895-70AB-BB6C-BCA0-982BDAF45F6B}"/>
              </a:ext>
            </a:extLst>
          </p:cNvPr>
          <p:cNvSpPr/>
          <p:nvPr/>
        </p:nvSpPr>
        <p:spPr>
          <a:xfrm>
            <a:off x="10533917" y="2041086"/>
            <a:ext cx="1277784" cy="5904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9443RBP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2A4126C-D67B-D4C6-6114-7F4923ACEA14}"/>
              </a:ext>
            </a:extLst>
          </p:cNvPr>
          <p:cNvSpPr/>
          <p:nvPr/>
        </p:nvSpPr>
        <p:spPr>
          <a:xfrm>
            <a:off x="10533917" y="2707766"/>
            <a:ext cx="1277784" cy="5904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9443NRBP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B53556-CE3F-8992-E51D-A14DAEDF2384}"/>
              </a:ext>
            </a:extLst>
          </p:cNvPr>
          <p:cNvSpPr txBox="1"/>
          <p:nvPr/>
        </p:nvSpPr>
        <p:spPr>
          <a:xfrm>
            <a:off x="7096072" y="3782734"/>
            <a:ext cx="4482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dataset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5C5CF5D-0CBE-9187-F36D-D5106BA4E626}"/>
              </a:ext>
            </a:extLst>
          </p:cNvPr>
          <p:cNvSpPr/>
          <p:nvPr/>
        </p:nvSpPr>
        <p:spPr>
          <a:xfrm>
            <a:off x="7178883" y="4504819"/>
            <a:ext cx="1277784" cy="5904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9743RBP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89017C5F-9DF4-7635-808C-37961C9C8384}"/>
              </a:ext>
            </a:extLst>
          </p:cNvPr>
          <p:cNvSpPr/>
          <p:nvPr/>
        </p:nvSpPr>
        <p:spPr>
          <a:xfrm>
            <a:off x="9118690" y="5059990"/>
            <a:ext cx="1050403" cy="295506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44CC99B-2519-8380-0BB8-BDC1D30EBF5B}"/>
              </a:ext>
            </a:extLst>
          </p:cNvPr>
          <p:cNvSpPr txBox="1"/>
          <p:nvPr/>
        </p:nvSpPr>
        <p:spPr>
          <a:xfrm>
            <a:off x="8579706" y="4654110"/>
            <a:ext cx="208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select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E8E352E-9152-4759-9FC5-2F46A249F293}"/>
              </a:ext>
            </a:extLst>
          </p:cNvPr>
          <p:cNvSpPr/>
          <p:nvPr/>
        </p:nvSpPr>
        <p:spPr>
          <a:xfrm>
            <a:off x="10553163" y="4427719"/>
            <a:ext cx="1277784" cy="5904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300RBP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8FD9678-8D97-3D28-57A7-2D862B06030E}"/>
              </a:ext>
            </a:extLst>
          </p:cNvPr>
          <p:cNvSpPr/>
          <p:nvPr/>
        </p:nvSpPr>
        <p:spPr>
          <a:xfrm>
            <a:off x="10553163" y="5094399"/>
            <a:ext cx="1277784" cy="5904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300NRBP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CB2B45B-9536-9D31-A2C1-CEC0C9A84B26}"/>
              </a:ext>
            </a:extLst>
          </p:cNvPr>
          <p:cNvSpPr/>
          <p:nvPr/>
        </p:nvSpPr>
        <p:spPr>
          <a:xfrm>
            <a:off x="7193988" y="5197952"/>
            <a:ext cx="1277784" cy="5904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9743NRBP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319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06A43196-C61F-E836-EFB3-35F504FD4DD9}"/>
              </a:ext>
            </a:extLst>
          </p:cNvPr>
          <p:cNvSpPr/>
          <p:nvPr/>
        </p:nvSpPr>
        <p:spPr>
          <a:xfrm>
            <a:off x="0" y="1"/>
            <a:ext cx="12191997" cy="584199"/>
          </a:xfrm>
          <a:custGeom>
            <a:avLst/>
            <a:gdLst/>
            <a:ahLst/>
            <a:cxnLst/>
            <a:rect l="l" t="t" r="r" b="b"/>
            <a:pathLst>
              <a:path w="4816592" h="709923">
                <a:moveTo>
                  <a:pt x="0" y="0"/>
                </a:moveTo>
                <a:lnTo>
                  <a:pt x="4816592" y="0"/>
                </a:lnTo>
                <a:lnTo>
                  <a:pt x="4816592" y="709923"/>
                </a:lnTo>
                <a:lnTo>
                  <a:pt x="0" y="709923"/>
                </a:lnTo>
                <a:close/>
              </a:path>
            </a:pathLst>
          </a:custGeom>
          <a:solidFill>
            <a:srgbClr val="304370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3F273AF-8E65-3281-C27A-B5542BA41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151" y="1187088"/>
            <a:ext cx="5067617" cy="3800712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F8F498D9-586E-DEE3-062D-93209A210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211" y="5022349"/>
            <a:ext cx="791761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Proportion of correctly predicted samples.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Proportion of actual positives among predicted positives.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Proportion of correctly predicted positives among all actual positives.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F1 Score: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Harmonic mean of precision and recall.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AUC: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Area under the ROC curve; higher AUC indicates better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DCB38D4-F53D-F79F-2164-3901C6140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65" y="1554176"/>
            <a:ext cx="5067617" cy="337841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89765D6-B07E-0731-890B-669B20AF738C}"/>
              </a:ext>
            </a:extLst>
          </p:cNvPr>
          <p:cNvSpPr txBox="1"/>
          <p:nvPr/>
        </p:nvSpPr>
        <p:spPr>
          <a:xfrm>
            <a:off x="115156" y="74711"/>
            <a:ext cx="9944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Result: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Model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performance on our test set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929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3">
            <a:extLst>
              <a:ext uri="{FF2B5EF4-FFF2-40B4-BE49-F238E27FC236}">
                <a16:creationId xmlns:a16="http://schemas.microsoft.com/office/drawing/2014/main" id="{EBE1C6D6-95A5-1A6D-648C-AB45BFDE6E15}"/>
              </a:ext>
            </a:extLst>
          </p:cNvPr>
          <p:cNvSpPr/>
          <p:nvPr/>
        </p:nvSpPr>
        <p:spPr>
          <a:xfrm>
            <a:off x="0" y="1"/>
            <a:ext cx="12191997" cy="584199"/>
          </a:xfrm>
          <a:custGeom>
            <a:avLst/>
            <a:gdLst/>
            <a:ahLst/>
            <a:cxnLst/>
            <a:rect l="l" t="t" r="r" b="b"/>
            <a:pathLst>
              <a:path w="4816592" h="709923">
                <a:moveTo>
                  <a:pt x="0" y="0"/>
                </a:moveTo>
                <a:lnTo>
                  <a:pt x="4816592" y="0"/>
                </a:lnTo>
                <a:lnTo>
                  <a:pt x="4816592" y="709923"/>
                </a:lnTo>
                <a:lnTo>
                  <a:pt x="0" y="709923"/>
                </a:lnTo>
                <a:close/>
              </a:path>
            </a:pathLst>
          </a:custGeom>
          <a:solidFill>
            <a:srgbClr val="30437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04EF3B9-19C0-6EB1-82DB-4F260D0B8E4F}"/>
              </a:ext>
            </a:extLst>
          </p:cNvPr>
          <p:cNvSpPr/>
          <p:nvPr/>
        </p:nvSpPr>
        <p:spPr>
          <a:xfrm>
            <a:off x="1740210" y="4692395"/>
            <a:ext cx="2040673" cy="42137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1B80FA0-FA1F-AE81-110C-ACC210E47CFF}"/>
              </a:ext>
            </a:extLst>
          </p:cNvPr>
          <p:cNvSpPr/>
          <p:nvPr/>
        </p:nvSpPr>
        <p:spPr>
          <a:xfrm>
            <a:off x="1740210" y="2995099"/>
            <a:ext cx="2040673" cy="42137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D2E2DE2-5EB8-A257-7F71-20493FB74D0C}"/>
              </a:ext>
            </a:extLst>
          </p:cNvPr>
          <p:cNvSpPr/>
          <p:nvPr/>
        </p:nvSpPr>
        <p:spPr>
          <a:xfrm>
            <a:off x="1740210" y="1424116"/>
            <a:ext cx="2040673" cy="42137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E1090C7-3896-852A-65FB-13A797834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932" y="704003"/>
            <a:ext cx="4400785" cy="29309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EFFDDCC-C97D-601C-3D2A-20798A176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936" y="3581029"/>
            <a:ext cx="4269680" cy="3202260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028EECF-0279-CE35-60C6-201C6F743A7A}"/>
              </a:ext>
            </a:extLst>
          </p:cNvPr>
          <p:cNvCxnSpPr>
            <a:cxnSpLocks/>
          </p:cNvCxnSpPr>
          <p:nvPr/>
        </p:nvCxnSpPr>
        <p:spPr>
          <a:xfrm>
            <a:off x="5865541" y="584200"/>
            <a:ext cx="0" cy="62738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69782A2-7E74-7890-8EB5-ACCEA6C87958}"/>
              </a:ext>
            </a:extLst>
          </p:cNvPr>
          <p:cNvSpPr txBox="1"/>
          <p:nvPr/>
        </p:nvSpPr>
        <p:spPr>
          <a:xfrm>
            <a:off x="1730918" y="1424116"/>
            <a:ext cx="2386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test dataset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AECE1C5-AC7B-710F-E650-E2843B10999A}"/>
              </a:ext>
            </a:extLst>
          </p:cNvPr>
          <p:cNvCxnSpPr/>
          <p:nvPr/>
        </p:nvCxnSpPr>
        <p:spPr>
          <a:xfrm>
            <a:off x="2701074" y="1911054"/>
            <a:ext cx="0" cy="101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78642FF-FEE0-A1DC-CFA9-31407BE4CA41}"/>
              </a:ext>
            </a:extLst>
          </p:cNvPr>
          <p:cNvSpPr txBox="1"/>
          <p:nvPr/>
        </p:nvSpPr>
        <p:spPr>
          <a:xfrm>
            <a:off x="315955" y="2085076"/>
            <a:ext cx="2326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TrimPred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RBPPred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RNApred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catRAPID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38E8217-DCD1-A9DE-F574-A627C91BF180}"/>
              </a:ext>
            </a:extLst>
          </p:cNvPr>
          <p:cNvSpPr txBox="1"/>
          <p:nvPr/>
        </p:nvSpPr>
        <p:spPr>
          <a:xfrm>
            <a:off x="1978217" y="2982757"/>
            <a:ext cx="2386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4876 sequences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DD046A1-6ADD-2ABD-B8EA-8C3807664EF6}"/>
              </a:ext>
            </a:extLst>
          </p:cNvPr>
          <p:cNvCxnSpPr/>
          <p:nvPr/>
        </p:nvCxnSpPr>
        <p:spPr>
          <a:xfrm>
            <a:off x="2701074" y="3457358"/>
            <a:ext cx="0" cy="101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8CB3481-A65E-3F6E-FBCE-58EB86047D0D}"/>
              </a:ext>
            </a:extLst>
          </p:cNvPr>
          <p:cNvSpPr txBox="1"/>
          <p:nvPr/>
        </p:nvSpPr>
        <p:spPr>
          <a:xfrm>
            <a:off x="2924098" y="3754722"/>
            <a:ext cx="1962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train dataset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85F004-4910-AC39-B309-7EB5D637D907}"/>
              </a:ext>
            </a:extLst>
          </p:cNvPr>
          <p:cNvSpPr txBox="1"/>
          <p:nvPr/>
        </p:nvSpPr>
        <p:spPr>
          <a:xfrm>
            <a:off x="646773" y="3643431"/>
            <a:ext cx="1665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MMseq2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50%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0360820-19D5-8E1D-145E-474DCB79161A}"/>
              </a:ext>
            </a:extLst>
          </p:cNvPr>
          <p:cNvSpPr txBox="1"/>
          <p:nvPr/>
        </p:nvSpPr>
        <p:spPr>
          <a:xfrm>
            <a:off x="1978217" y="4702797"/>
            <a:ext cx="2386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3371 sequences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C7B791F-9110-6686-BFBF-C8CA9C9D542E}"/>
              </a:ext>
            </a:extLst>
          </p:cNvPr>
          <p:cNvSpPr txBox="1"/>
          <p:nvPr/>
        </p:nvSpPr>
        <p:spPr>
          <a:xfrm>
            <a:off x="89210" y="74711"/>
            <a:ext cx="9970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  <a:sym typeface="Arial"/>
              </a:rPr>
              <a:t>Result: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Model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performance on other test set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8828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6C1EF-229B-320A-CC6D-474875EB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44D2B5-6CA6-D1B4-6FCF-A9AAB7852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370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98897-B182-F105-D819-D47A597C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6BC85-99C0-18C8-5B81-EAF66E42F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869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08BA7-43E0-C9FF-78A7-7A129AFED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4A432B-B2CF-5275-C362-84206F201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419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19142-BDAD-486C-006A-B598EA71E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FB279B-C5C7-73B3-2D8E-19BA51915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835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243</Words>
  <Application>Microsoft Office PowerPoint</Application>
  <PresentationFormat>宽屏</PresentationFormat>
  <Paragraphs>70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Harding</vt:lpstr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凯航 李</dc:creator>
  <cp:lastModifiedBy>凯航 李</cp:lastModifiedBy>
  <cp:revision>1</cp:revision>
  <dcterms:created xsi:type="dcterms:W3CDTF">2026-03-20T09:28:38Z</dcterms:created>
  <dcterms:modified xsi:type="dcterms:W3CDTF">2026-03-20T11:57:47Z</dcterms:modified>
</cp:coreProperties>
</file>